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10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BBD3517-97D2-4078-9923-7560A15F4C93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4538ADE-E074-4F92-A615-C22E2D581260}" type="slidenum">
              <a:rPr lang="en-US" sz="1400" b="0" strike="noStrike" spc="-1">
                <a:latin typeface="Times New Roman"/>
              </a:rPr>
              <a:t>1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Name of the faculty [Group: G00] [Sem:2nd]</a:t>
            </a:r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Google Shape;11;p1"/>
          <p:cNvSpPr/>
          <p:nvPr/>
        </p:nvSpPr>
        <p:spPr>
          <a:xfrm rot="10800000" flipH="1">
            <a:off x="360" y="6705000"/>
            <a:ext cx="9143280" cy="19728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Google Shape;12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Google Shape;16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8" name="Google Shape;18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9;p1" descr="LOGO.gif"/>
          <p:cNvPicPr/>
          <p:nvPr/>
        </p:nvPicPr>
        <p:blipFill>
          <a:blip r:embed="rId14"/>
          <a:srcRect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1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Google Shape;22;p1" descr="LOGO.gif"/>
            <p:cNvPicPr/>
            <p:nvPr/>
          </p:nvPicPr>
          <p:blipFill>
            <a:blip r:embed="rId14"/>
            <a:srcRect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4" name="Google Shape;24;p1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4;p14"/>
          <p:cNvSpPr/>
          <p:nvPr/>
        </p:nvSpPr>
        <p:spPr>
          <a:xfrm>
            <a:off x="0" y="1112362"/>
            <a:ext cx="9143640" cy="54493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On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tabLst>
                <a:tab pos="0" algn="l"/>
              </a:tabLst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Illusions of Performance: Train–Test Leakage in Similarity Search Benchmarks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Diya Gupta - 2210990303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Aakanksha Sharma - 2210990006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Siya Bansal - 2210992386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Supervised By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Mrs. Swati Goel</a:t>
            </a:r>
            <a:endParaRPr lang="en-IN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Department of Computer Science and Engineering, </a:t>
            </a: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Chitkara University, Punjab</a:t>
            </a: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9;p15"/>
          <p:cNvSpPr/>
          <p:nvPr/>
        </p:nvSpPr>
        <p:spPr>
          <a:xfrm>
            <a:off x="-60386" y="0"/>
            <a:ext cx="3283675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61" name="Google Shape;90;p1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CD4AE9B-08B9-4547-A63E-C947AFBBDB7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2" name="Google Shape;91;p15"/>
          <p:cNvSpPr/>
          <p:nvPr/>
        </p:nvSpPr>
        <p:spPr>
          <a:xfrm>
            <a:off x="0" y="837359"/>
            <a:ext cx="8838360" cy="50320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vector retrieval is widely used in modern AI systems.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include: </a:t>
            </a:r>
          </a:p>
          <a:p>
            <a:pPr marL="457200">
              <a:lnSpc>
                <a:spcPct val="17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1. Semantic Search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2.Recommendation Systems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3.Question Answering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4.Information Retrieval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 Nearest Neighbor (ANN) systems like FAISS are commonly used for efficient similarity search.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performance is evaluated using metrics such as  </a:t>
            </a:r>
            <a:r>
              <a:rPr lang="en-US" sz="2000" b="0" strike="noStrike" spc="-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Recall@K</a:t>
            </a: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Mean Reciprocal Rank (MRR).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major issue in benchmark evaluation is train–test leakage. 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Leakage occurs when test queries or semantically similar vectors already exist inside the retrieval corpus.</a:t>
            </a: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indent="-342900">
              <a:lnSpc>
                <a:spcPct val="100000"/>
              </a:lnSpc>
              <a:spcBef>
                <a:spcPts val="99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contamination can distort benchmark results and reduce evaluation reliability.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focuses on understanding how train–test leakage affects similarity search benchmark performance.</a:t>
            </a: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96;p16"/>
          <p:cNvSpPr/>
          <p:nvPr/>
        </p:nvSpPr>
        <p:spPr>
          <a:xfrm>
            <a:off x="-97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Problem Statement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64" name="Google Shape;97;p16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190D9D3-DCCF-4D23-BF8C-F21768DE136B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5" name="Google Shape;98;p16"/>
          <p:cNvSpPr/>
          <p:nvPr/>
        </p:nvSpPr>
        <p:spPr>
          <a:xfrm flipV="1">
            <a:off x="0" y="1034281"/>
            <a:ext cx="8838360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GB" sz="2000" b="0" strike="noStrike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spc="-1" dirty="0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BF794-25E9-8892-AB30-FC4ADC5801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5661" y="1276921"/>
            <a:ext cx="8928339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en-US" sz="1200" dirty="0"/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Similarity search benchmarks assume that test queries and corpus data are completely separate.</a:t>
            </a: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In real-world datasets, semantically similar or near-duplicate vectors may already exist inside the retrieval corpus, which creates train–test leakage in similarity search systems.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ANN systems retrieve vectors based on similarity, so leaked vectors can interfere with correct retrieval.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Near-duplicate vectors may occupy top-ranked positions and replace actual ground-truth neighbors, causing distorted rankings and misleading benchmark evaluation results.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Leakage becomes difficult to detect because even highly similar embeddings can affect retrieval performance without being exact duplicates.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Existing benchmark studies mainly focus on speed and efficiency, but not on leakage validation.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878" indent="-283878">
              <a:buFont typeface="Arial"/>
              <a:buChar char="•"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Therefore, reliable methods are needed to detect and analyze train–test leakage in similarity search systems.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3;p17"/>
          <p:cNvSpPr/>
          <p:nvPr/>
        </p:nvSpPr>
        <p:spPr>
          <a:xfrm>
            <a:off x="-162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Objectives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1B941E0-A7AB-4FAA-B7C3-6E9A86CF48F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68" name="Google Shape;105;p17"/>
          <p:cNvSpPr/>
          <p:nvPr/>
        </p:nvSpPr>
        <p:spPr>
          <a:xfrm>
            <a:off x="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spc="-1" dirty="0">
              <a:latin typeface="Times New ROman"/>
            </a:endParaRPr>
          </a:p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endParaRPr lang="en-IN" sz="2000" b="0" strike="noStrike" spc="-1" dirty="0">
              <a:latin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FC7B8-1F3B-C63F-BE63-8B5B60A01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56" y="1518569"/>
            <a:ext cx="5557259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Study train–test leakage in similarity search benchmarks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Define leakage using cosine similarity thresholds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Develop a leakage detection protocol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Inject controlled contamination into retrieval corpus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Analyze the effect of leakage on retrieval performance.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Evaluate metrics such as Recall@1, Recall@5, Recall@10, and MRR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Compare semantic leakage with random injection.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Study contamination effects on different embedding datasets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2" indent="-217792">
              <a:lnSpc>
                <a:spcPct val="150000"/>
              </a:lnSpc>
              <a:buFont typeface="Arial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Improve reliability of ANN benchmark evaluation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76BC8D-C867-5A2E-308F-4F05C94F7F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6297283" y="3986041"/>
            <a:ext cx="1800334" cy="1932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10;p18"/>
          <p:cNvSpPr/>
          <p:nvPr/>
        </p:nvSpPr>
        <p:spPr>
          <a:xfrm>
            <a:off x="-144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Related Work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70" name="Google Shape;111;p18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2B9EFEA-C6C7-4798-95FB-F4CB1A736A31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1" name="Google Shape;112;p18"/>
          <p:cNvSpPr/>
          <p:nvPr/>
        </p:nvSpPr>
        <p:spPr>
          <a:xfrm rot="10800000">
            <a:off x="2129456" y="5534280"/>
            <a:ext cx="6690544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endParaRPr lang="en-IN" sz="205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E62756-D72F-02EC-4B31-9A34C30D6E0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8022" y="998702"/>
            <a:ext cx="8609161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Johnson et al. developed FAISS for efficient ANN similarity search and focused mainly on retrieval efficiency and scalability.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ANN-Benchmarks evaluated ANN systems using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Recall@K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and query speed but assumed clean benchmark datasets.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Kaufman et al. studied data leakage in supervised learning, while Brown et al. discussed benchmark contamination in GPT-3.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Existing near-duplicate detection methods use cosine similarity and embedding-based comparison for dataset cleaning.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Most previous studies focused 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Retrieval efficiency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                Indexing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                Scalability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However, limited research focused on:</a:t>
            </a: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               Train–test leakage in ANN systems </a:t>
            </a: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               Semantic contamination in retrieval benchmarks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Impact on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Recall@K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and MRR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• Our work analyzes train–test leakage and its effect on similarity search benchmark performance.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17;p19"/>
          <p:cNvSpPr/>
          <p:nvPr/>
        </p:nvSpPr>
        <p:spPr>
          <a:xfrm>
            <a:off x="97200" y="0"/>
            <a:ext cx="65628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BE3C5DE-FAB7-4634-93F1-B17898FD3BD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74" name="Google Shape;119;p19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  <a:p>
            <a:pPr marL="457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D41EE8-B779-D59A-701A-CB8A0D53ED0D}"/>
                  </a:ext>
                </a:extLst>
              </p:cNvPr>
              <p:cNvSpPr txBox="1"/>
              <p:nvPr/>
            </p:nvSpPr>
            <p:spPr>
              <a:xfrm>
                <a:off x="458803" y="3553340"/>
                <a:ext cx="3929332" cy="1505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95764" indent="-195764">
                  <a:buFont typeface="Arial"/>
                  <a:buChar char="•"/>
                  <a:defRPr/>
                </a:pPr>
                <a:r>
                  <a:rPr lang="en-IN" sz="1400" b="1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Leakage exists if: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lang="en-IN" sz="14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)≥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5764" indent="-195764">
                  <a:buFont typeface="Arial"/>
                  <a:buChar char="•"/>
                  <a:defRPr/>
                </a:pPr>
                <a:r>
                  <a:rPr lang="en-IN" sz="14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sim(qi​,ci​)≥</a:t>
                </a:r>
                <a:r>
                  <a:rPr lang="el-GR" sz="14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τ</a:t>
                </a:r>
                <a:endPara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5764" indent="-195764">
                  <a:buFont typeface="Arial"/>
                  <a:buChar char="•"/>
                  <a:defRPr/>
                </a:pPr>
                <a:r>
                  <a:rPr lang="en-IN" sz="1400" b="1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Leakage Rate: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1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40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sz="14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𝑓𝑙𝑎𝑔𝑔𝑒𝑑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𝑞𝑢𝑒𝑟𝑖𝑒𝑠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5764" indent="-195764">
                  <a:lnSpc>
                    <a:spcPct val="100000"/>
                  </a:lnSpc>
                  <a:buFont typeface="Arial"/>
                  <a:buChar char="•"/>
                  <a:tabLst>
                    <a:tab pos="0" algn="l"/>
                  </a:tabLst>
                  <a:defRPr/>
                </a:pPr>
                <a:r>
                  <a:rPr lang="el-GR" sz="14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λ(τ)=∣</a:t>
                </a:r>
                <a:r>
                  <a:rPr lang="en-IN" sz="14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</a:rPr>
                  <a:t>Q∣∣flagged queries∣​</a:t>
                </a:r>
              </a:p>
              <a:p>
                <a:pPr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IN" sz="1400" b="0" strike="noStrike" spc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17793" indent="-217793">
                  <a:lnSpc>
                    <a:spcPct val="100000"/>
                  </a:lnSpc>
                  <a:buFont typeface="Arial"/>
                  <a:buChar char="•"/>
                  <a:tabLst>
                    <a:tab pos="0" algn="l"/>
                  </a:tabLst>
                  <a:defRPr/>
                </a:pPr>
                <a:r>
                  <a:rPr lang="en-IN" sz="1400" b="0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Thresholds </a:t>
                </a:r>
                <a:r>
                  <a:rPr lang="el-GR" sz="1400" b="0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τ </a:t>
                </a:r>
                <a:r>
                  <a:rPr lang="en-IN" sz="1400" b="0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tested: 0.90, 0.92, 0.95, 0.97, 0.99</a:t>
                </a:r>
                <a:endParaRPr lang="en-IN" sz="1400" b="0" strike="noStrike" spc="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D41EE8-B779-D59A-701A-CB8A0D53E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03" y="3553340"/>
                <a:ext cx="3929332" cy="1505284"/>
              </a:xfrm>
              <a:prstGeom prst="rect">
                <a:avLst/>
              </a:prstGeom>
              <a:blipFill>
                <a:blip r:embed="rId2"/>
                <a:stretch>
                  <a:fillRect l="-155" t="-810" b="-3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7D96A4B-706E-C987-D919-2717F2E65A01}"/>
              </a:ext>
            </a:extLst>
          </p:cNvPr>
          <p:cNvSpPr txBox="1"/>
          <p:nvPr/>
        </p:nvSpPr>
        <p:spPr>
          <a:xfrm>
            <a:off x="4848548" y="3581183"/>
            <a:ext cx="3929332" cy="1266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Index Type: IVF-Flat (</a:t>
            </a:r>
            <a:r>
              <a:rPr lang="en-IN" sz="14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nlist</a:t>
            </a: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= 256, </a:t>
            </a:r>
            <a:r>
              <a:rPr lang="en-IN" sz="14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nprobe</a:t>
            </a: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= 32)</a:t>
            </a:r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Similarity Metric: Inner Product (Cosine after L2 normalization)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Contamination Levels: 0%, 5%, 10%, 20%, 30%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7793" indent="-217793">
              <a:lnSpc>
                <a:spcPct val="100000"/>
              </a:lnSpc>
              <a:spcAft>
                <a:spcPts val="799"/>
              </a:spcAft>
              <a:buFont typeface="Arial"/>
              <a:buChar char="•"/>
              <a:defRPr/>
            </a:pPr>
            <a:r>
              <a:rPr lang="en-IN"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5 experimental runs with fixed random seeds</a:t>
            </a:r>
            <a:endParaRPr lang="en-IN" sz="1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0012E-050B-D7C1-5883-FD9C34A92150}"/>
              </a:ext>
            </a:extLst>
          </p:cNvPr>
          <p:cNvSpPr txBox="1"/>
          <p:nvPr/>
        </p:nvSpPr>
        <p:spPr>
          <a:xfrm>
            <a:off x="4712688" y="3135829"/>
            <a:ext cx="493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FAISS Index Configuration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98C9-0A38-B9E0-6E6E-AFAB1B586408}"/>
              </a:ext>
            </a:extLst>
          </p:cNvPr>
          <p:cNvSpPr txBox="1"/>
          <p:nvPr/>
        </p:nvSpPr>
        <p:spPr>
          <a:xfrm>
            <a:off x="324000" y="5949332"/>
            <a:ext cx="800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analyze how train–test leakage affects retrieval performance under controlled contamination levels.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254D6-22DB-1FBC-6F44-D95D8DCF2647}"/>
              </a:ext>
            </a:extLst>
          </p:cNvPr>
          <p:cNvSpPr txBox="1"/>
          <p:nvPr/>
        </p:nvSpPr>
        <p:spPr>
          <a:xfrm>
            <a:off x="324000" y="5580000"/>
            <a:ext cx="493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Methodology Goal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AD019-75EE-F4BE-1678-B3DC0A8EBE89}"/>
              </a:ext>
            </a:extLst>
          </p:cNvPr>
          <p:cNvSpPr txBox="1"/>
          <p:nvPr/>
        </p:nvSpPr>
        <p:spPr>
          <a:xfrm>
            <a:off x="246362" y="3107430"/>
            <a:ext cx="3454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Formal Definition of Leakage</a:t>
            </a:r>
            <a:endParaRPr lang="en-IN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B54B85F-BE89-1A2C-39AC-043D01846687}"/>
              </a:ext>
            </a:extLst>
          </p:cNvPr>
          <p:cNvSpPr/>
          <p:nvPr/>
        </p:nvSpPr>
        <p:spPr bwMode="auto">
          <a:xfrm>
            <a:off x="107504" y="841319"/>
            <a:ext cx="8670376" cy="1269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C2C57-AEA9-13F2-2739-85AAD02EB03F}"/>
              </a:ext>
            </a:extLst>
          </p:cNvPr>
          <p:cNvSpPr/>
          <p:nvPr/>
        </p:nvSpPr>
        <p:spPr>
          <a:xfrm>
            <a:off x="76692" y="1295019"/>
            <a:ext cx="1702033" cy="1443079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Calibri"/>
                <a:ea typeface="Calibri"/>
              </a:rPr>
              <a:t>1.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Dataset</a:t>
            </a:r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Preparation</a:t>
            </a:r>
            <a:endParaRPr lang="en-US" sz="1200" b="1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Synthetic-128D</a:t>
            </a:r>
            <a:endParaRPr lang="en-IN" sz="1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&amp; NLP-768D</a:t>
            </a:r>
            <a:endParaRPr lang="en-IN" sz="1200" spc="-1" dirty="0"/>
          </a:p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52BA45-051B-6C8C-15B0-FC764AE0C4A9}"/>
              </a:ext>
            </a:extLst>
          </p:cNvPr>
          <p:cNvSpPr/>
          <p:nvPr/>
        </p:nvSpPr>
        <p:spPr>
          <a:xfrm>
            <a:off x="1930726" y="1287715"/>
            <a:ext cx="1805551" cy="144307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</a:t>
            </a:r>
            <a:endParaRPr lang="en-US" sz="1200" b="1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BUILD Ground Truth (q</a:t>
            </a:r>
            <a:r>
              <a:rPr lang="en-US" sz="1400" b="1" spc="-1" dirty="0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endParaRPr lang="en-IN" sz="14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Exhaustive NN</a:t>
            </a:r>
            <a:endParaRPr lang="en-IN" sz="1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Top-10</a:t>
            </a:r>
            <a:endParaRPr lang="en-IN" sz="1200" spc="-1" dirty="0"/>
          </a:p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756624-D829-890E-9489-B8266DC02F9B}"/>
              </a:ext>
            </a:extLst>
          </p:cNvPr>
          <p:cNvSpPr/>
          <p:nvPr/>
        </p:nvSpPr>
        <p:spPr>
          <a:xfrm>
            <a:off x="3853045" y="1279528"/>
            <a:ext cx="1611402" cy="1443077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4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Leakage</a:t>
            </a:r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Detection</a:t>
            </a: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FAISS Flat</a:t>
            </a:r>
            <a:endParaRPr lang="en-IN" sz="1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Cosine ≥ τ</a:t>
            </a:r>
            <a:endParaRPr lang="en-IN" sz="1200" spc="-1" dirty="0"/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72E3BA-DFC5-3FC8-D7E1-421F43DC8EBE}"/>
              </a:ext>
            </a:extLst>
          </p:cNvPr>
          <p:cNvSpPr/>
          <p:nvPr/>
        </p:nvSpPr>
        <p:spPr>
          <a:xfrm>
            <a:off x="5590311" y="1278000"/>
            <a:ext cx="1611402" cy="1452793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Leakage</a:t>
            </a:r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Injection</a:t>
            </a: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Gaussian noise</a:t>
            </a:r>
            <a:endParaRPr lang="en-IN" sz="1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0–30%</a:t>
            </a:r>
            <a:endParaRPr lang="en-IN" sz="1200" spc="-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DC59B9-16A5-03E9-6108-7AE07B81D8C4}"/>
              </a:ext>
            </a:extLst>
          </p:cNvPr>
          <p:cNvSpPr/>
          <p:nvPr/>
        </p:nvSpPr>
        <p:spPr>
          <a:xfrm>
            <a:off x="7327577" y="1258043"/>
            <a:ext cx="1697358" cy="1480055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Evaluate</a:t>
            </a:r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Metrics</a:t>
            </a:r>
            <a:endParaRPr lang="en-US" sz="14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2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 err="1">
                <a:solidFill>
                  <a:srgbClr val="000000"/>
                </a:solidFill>
                <a:latin typeface="Calibri"/>
                <a:ea typeface="Calibri"/>
              </a:rPr>
              <a:t>Recall@K</a:t>
            </a:r>
            <a:endParaRPr lang="en-IN" sz="1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200" spc="-1" dirty="0">
                <a:solidFill>
                  <a:srgbClr val="000000"/>
                </a:solidFill>
                <a:latin typeface="Calibri"/>
                <a:ea typeface="Calibri"/>
              </a:rPr>
              <a:t>&amp; MRR</a:t>
            </a:r>
            <a:endParaRPr lang="en-IN" sz="1200" spc="-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1;p21"/>
          <p:cNvSpPr/>
          <p:nvPr/>
        </p:nvSpPr>
        <p:spPr>
          <a:xfrm>
            <a:off x="-7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Results &amp; Discussion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79" name="Google Shape;132;p21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318B554-8C28-4C18-B83B-D4791DD0280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61640" y="1080000"/>
            <a:ext cx="8982360" cy="50275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2000" b="0" strike="noStrike" spc="-1" dirty="0"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41D56-DCAB-0744-E6E7-01E33A55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83" y="1323071"/>
            <a:ext cx="4554064" cy="3216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66EE81-C698-3D70-881C-D76E6019D341}"/>
              </a:ext>
            </a:extLst>
          </p:cNvPr>
          <p:cNvSpPr txBox="1"/>
          <p:nvPr/>
        </p:nvSpPr>
        <p:spPr>
          <a:xfrm>
            <a:off x="5100667" y="1033408"/>
            <a:ext cx="251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BD24A-FA86-F34E-D3D8-26FA840B6BDD}"/>
              </a:ext>
            </a:extLst>
          </p:cNvPr>
          <p:cNvSpPr txBox="1"/>
          <p:nvPr/>
        </p:nvSpPr>
        <p:spPr>
          <a:xfrm>
            <a:off x="5100667" y="1458507"/>
            <a:ext cx="409285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Recall@1 drops by 29 pp at 30% contamination (NLP-768D).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Recall@1 is the most sensitive diagnostic metric.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Synthetic-128D is far more robust than NLP embeddings.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MRR declines proportionally across both datasets.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proximity — not corpus size — causes degradation.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protocol: 0 false positives on clean benchmarks.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BBB728-ACEF-522C-FE68-85250353BE1C}"/>
              </a:ext>
            </a:extLst>
          </p:cNvPr>
          <p:cNvSpPr/>
          <p:nvPr/>
        </p:nvSpPr>
        <p:spPr>
          <a:xfrm>
            <a:off x="264124" y="4782494"/>
            <a:ext cx="1568162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29pp</a:t>
            </a: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Recall@1</a:t>
            </a: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0A2AB2-F852-D3A8-7F2D-AE7EA4E558ED}"/>
              </a:ext>
            </a:extLst>
          </p:cNvPr>
          <p:cNvSpPr/>
          <p:nvPr/>
        </p:nvSpPr>
        <p:spPr>
          <a:xfrm>
            <a:off x="1969706" y="4782494"/>
            <a:ext cx="1528136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18.4pp</a:t>
            </a:r>
          </a:p>
          <a:p>
            <a:pPr algn="ctr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Recall@10 Drop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B7DB3F-108F-5587-46EA-FAE1EC2908E1}"/>
              </a:ext>
            </a:extLst>
          </p:cNvPr>
          <p:cNvSpPr/>
          <p:nvPr/>
        </p:nvSpPr>
        <p:spPr>
          <a:xfrm>
            <a:off x="3635262" y="4782494"/>
            <a:ext cx="1553307" cy="1042098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0.611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MRR @ 30% contamination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22"/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Conclusion &amp; Future Work</a:t>
            </a:r>
            <a:endParaRPr lang="en-IN" sz="3200" b="0" strike="noStrike" spc="-1">
              <a:latin typeface="Arial"/>
            </a:endParaRPr>
          </a:p>
        </p:txBody>
      </p:sp>
      <p:sp>
        <p:nvSpPr>
          <p:cNvPr id="82" name="Google Shape;139;p22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96944B2-46A7-46EA-9AA4-18E071D145B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8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9000"/>
          </a:bodyPr>
          <a:lstStyle/>
          <a:p>
            <a:endParaRPr lang="en-GB" sz="2000" dirty="0"/>
          </a:p>
          <a:p>
            <a:endParaRPr lang="en-GB" sz="2000" dirty="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3C622295-C493-F284-5714-A7F9E18EE355}"/>
              </a:ext>
            </a:extLst>
          </p:cNvPr>
          <p:cNvSpPr/>
          <p:nvPr/>
        </p:nvSpPr>
        <p:spPr bwMode="auto">
          <a:xfrm>
            <a:off x="175978" y="1205769"/>
            <a:ext cx="1747713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Conclusion</a:t>
            </a:r>
            <a:endParaRPr lang="en-IN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18674822-3258-1874-2F7A-DB7331689713}"/>
              </a:ext>
            </a:extLst>
          </p:cNvPr>
          <p:cNvSpPr/>
          <p:nvPr/>
        </p:nvSpPr>
        <p:spPr bwMode="auto">
          <a:xfrm>
            <a:off x="5089585" y="1195213"/>
            <a:ext cx="3596495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 Work</a:t>
            </a:r>
            <a:endParaRPr lang="en-IN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0CCED-7990-E0B1-2C8E-82A05F72EC41}"/>
              </a:ext>
            </a:extLst>
          </p:cNvPr>
          <p:cNvSpPr txBox="1"/>
          <p:nvPr/>
        </p:nvSpPr>
        <p:spPr>
          <a:xfrm>
            <a:off x="106967" y="1769056"/>
            <a:ext cx="4556113" cy="364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This work studied train–test leakage in similarity search benchmarks.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4999"/>
              </a:lnSpc>
              <a:defRPr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4999"/>
              </a:lnSpc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 cosine similarity–based leakage detection protocol was proposed.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defRPr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Results showed that leakage significantly affects retrieval performance and ranking quality.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Recall@1 was found to be the most sensitive metric to contamination.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Semantic similarity, rather than corpus size, was identified as </a:t>
            </a:r>
          </a:p>
          <a:p>
            <a:pPr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the main cause of degradation.</a:t>
            </a:r>
          </a:p>
          <a:p>
            <a:pPr>
              <a:defRPr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The proposed detection method effectively identified contaminated benchmarks.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4C2BA-79E5-138D-682C-6E6CEF1577C3}"/>
              </a:ext>
            </a:extLst>
          </p:cNvPr>
          <p:cNvSpPr txBox="1"/>
          <p:nvPr/>
        </p:nvSpPr>
        <p:spPr>
          <a:xfrm>
            <a:off x="4788313" y="1769056"/>
            <a:ext cx="43733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Apply the protocol on real-world public benchmarks such as MS MARCO and BEIR.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Study leakage effects on other ANN indexing methods like HNSW.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13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Analyze</a:t>
            </a: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leakage </a:t>
            </a:r>
            <a:r>
              <a:rPr lang="en-IN" sz="13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behavior</a:t>
            </a: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in multi-vector retrieval systems such as </a:t>
            </a:r>
            <a:r>
              <a:rPr lang="en-IN" sz="13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ColBERT</a:t>
            </a: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Develop automatic leakage auditing tools for benchmark validation.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13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Explore the relationship between embedding dimensionality and leakage sensitivity.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5;p23"/>
          <p:cNvSpPr/>
          <p:nvPr/>
        </p:nvSpPr>
        <p:spPr>
          <a:xfrm>
            <a:off x="-16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85" name="Google Shape;146;p2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6AEA817-3DB3-4E72-BC70-C76CDB960E1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124413" y="3089339"/>
            <a:ext cx="11245731" cy="67039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 dirty="0"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590ED-5C9A-0FBE-1028-D3351320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88" y="1242679"/>
            <a:ext cx="81541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Johnson et al., “Billion-Scale Similarity Search with GPUs,” 2021.</a:t>
            </a: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Reimers &amp; </a:t>
            </a:r>
            <a:r>
              <a:rPr lang="en-IN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Gurevych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“Sentence-BERT,” EMNLP 2019.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Nguyen et al., “MS MARCO Dataset,” 2016.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Kaufman et al., “Leakage in Data Mining,” 2012.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Brown et al., “Language Models are Few-Shot Learners,” 2020.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</a:t>
            </a:r>
            <a:r>
              <a:rPr lang="en-IN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Aumueller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et al., “ANN-Benchmarks,” 2020.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52;p24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5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You!</a:t>
            </a:r>
            <a:endParaRPr lang="en-IN" sz="5400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5400" b="0" strike="noStrike" spc="-1" dirty="0">
              <a:latin typeface="Arial"/>
            </a:endParaRPr>
          </a:p>
        </p:txBody>
      </p:sp>
      <p:sp>
        <p:nvSpPr>
          <p:cNvPr id="88" name="Google Shape;153;p24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E591B86-0DE4-4CDB-9069-19DF117F9FDA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2BD63949-077D-E0EF-2197-FF675F4D9575}"/>
              </a:ext>
            </a:extLst>
          </p:cNvPr>
          <p:cNvSpPr/>
          <p:nvPr/>
        </p:nvSpPr>
        <p:spPr bwMode="auto">
          <a:xfrm>
            <a:off x="3132050" y="3680028"/>
            <a:ext cx="3027209" cy="4571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1054</Words>
  <Application>Microsoft Office PowerPoint</Application>
  <PresentationFormat>On-screen Show (4:3)</PresentationFormat>
  <Paragraphs>207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Symbol</vt:lpstr>
      <vt:lpstr>Times New ROman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Geetika</dc:creator>
  <dc:description/>
  <cp:lastModifiedBy>Diya Gupta</cp:lastModifiedBy>
  <cp:revision>5</cp:revision>
  <dcterms:modified xsi:type="dcterms:W3CDTF">2026-05-17T08:51:55Z</dcterms:modified>
  <dc:language>en-IN</dc:language>
</cp:coreProperties>
</file>